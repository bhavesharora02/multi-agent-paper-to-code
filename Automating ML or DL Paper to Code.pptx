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C9DD19E-0564-4077-B449-FDCE7B0A8F64}" type="datetimeFigureOut">
              <a:rPr lang="en-US" smtClean="0"/>
              <a:t>6/30/2025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3368709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9DD19E-0564-4077-B449-FDCE7B0A8F64}"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844111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9DD19E-0564-4077-B449-FDCE7B0A8F64}"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532449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9DD19E-0564-4077-B449-FDCE7B0A8F64}" type="datetimeFigureOut">
              <a:rPr lang="en-US" smtClean="0"/>
              <a:t>6/30/2025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1564359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9DD19E-0564-4077-B449-FDCE7B0A8F64}" type="datetimeFigureOut">
              <a:rPr lang="en-US" smtClean="0"/>
              <a:t>6/30/2025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3744511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9DD19E-0564-4077-B449-FDCE7B0A8F64}" type="datetimeFigureOut">
              <a:rPr lang="en-US" smtClean="0"/>
              <a:t>6/30/2025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2107504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9DD19E-0564-4077-B449-FDCE7B0A8F64}" type="datetimeFigureOut">
              <a:rPr lang="en-US" smtClean="0"/>
              <a:t>6/30/2025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1343690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9DD19E-0564-4077-B449-FDCE7B0A8F64}" type="datetimeFigureOut">
              <a:rPr lang="en-US" smtClean="0"/>
              <a:t>6/30/2025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2366436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9DD19E-0564-4077-B449-FDCE7B0A8F64}" type="datetimeFigureOut">
              <a:rPr lang="en-US" smtClean="0"/>
              <a:t>6/30/2025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2604194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9DD19E-0564-4077-B449-FDCE7B0A8F64}" type="datetimeFigureOut">
              <a:rPr lang="en-US" smtClean="0"/>
              <a:t>6/30/2025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2105134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C9DD19E-0564-4077-B449-FDCE7B0A8F64}"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33450253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C9DD19E-0564-4077-B449-FDCE7B0A8F64}"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220932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9DD19E-0564-4077-B449-FDCE7B0A8F64}"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14736470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C9DD19E-0564-4077-B449-FDCE7B0A8F64}" type="datetimeFigureOut">
              <a:rPr lang="en-US" smtClean="0"/>
              <a:t>6/30/2025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946422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C9DD19E-0564-4077-B449-FDCE7B0A8F64}" type="datetimeFigureOut">
              <a:rPr lang="en-US" smtClean="0"/>
              <a:t>6/30/2025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18029864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C9DD19E-0564-4077-B449-FDCE7B0A8F64}"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34976979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C9DD19E-0564-4077-B449-FDCE7B0A8F64}" type="datetimeFigureOut">
              <a:rPr lang="en-US" smtClean="0"/>
              <a:t>6/30/2025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FA3A6DE-3DBB-4325-8A83-5C8DD1F68887}" type="slidenum">
              <a:rPr lang="en-US" smtClean="0"/>
              <a:t>‹#›</a:t>
            </a:fld>
            <a:endParaRPr lang="en-US"/>
          </a:p>
        </p:txBody>
      </p:sp>
    </p:spTree>
    <p:extLst>
      <p:ext uri="{BB962C8B-B14F-4D97-AF65-F5344CB8AC3E}">
        <p14:creationId xmlns:p14="http://schemas.microsoft.com/office/powerpoint/2010/main" val="445328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C9DD19E-0564-4077-B449-FDCE7B0A8F64}" type="datetimeFigureOut">
              <a:rPr lang="en-US" smtClean="0"/>
              <a:t>6/30/2025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7FA3A6DE-3DBB-4325-8A83-5C8DD1F68887}" type="slidenum">
              <a:rPr lang="en-US" smtClean="0"/>
              <a:t>‹#›</a:t>
            </a:fld>
            <a:endParaRPr lang="en-US"/>
          </a:p>
        </p:txBody>
      </p:sp>
    </p:spTree>
    <p:extLst>
      <p:ext uri="{BB962C8B-B14F-4D97-AF65-F5344CB8AC3E}">
        <p14:creationId xmlns:p14="http://schemas.microsoft.com/office/powerpoint/2010/main" val="2289854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rxiv.org/html/2504.17192v3#:~:text=Image%3A%20Refer%20to%20caption%20Figure,and%20experiments%20of%20the%20paper" TargetMode="External"/><Relationship Id="rId2" Type="http://schemas.openxmlformats.org/officeDocument/2006/relationships/hyperlink" Target="https://arxiv.org/html/2504.17192v3#:~:text=Meanwhile%2C%20recent%20Large%20Language%20Models,In" TargetMode="External"/><Relationship Id="rId1" Type="http://schemas.openxmlformats.org/officeDocument/2006/relationships/slideLayout" Target="../slideLayouts/slideLayout2.xml"/><Relationship Id="rId6" Type="http://schemas.openxmlformats.org/officeDocument/2006/relationships/hyperlink" Target="https://arxiv.org/html/2504.17192v3#:~:text=developers%20and%20researchers%20in%20writing,grained%20interpretation" TargetMode="External"/><Relationship Id="rId5" Type="http://schemas.openxmlformats.org/officeDocument/2006/relationships/hyperlink" Target="https://arxiv.org/html/2504.17192v3#:~:text=ChatDev%C2%A0%5Bchatdev%5D%20is%20a%20multi,of%20planning%2C%20analysis%2C%20and%20code" TargetMode="External"/><Relationship Id="rId4" Type="http://schemas.openxmlformats.org/officeDocument/2006/relationships/hyperlink" Target="https://arxiv.org/html/2504.20115v2#:~:text=The%20second%20stage%2C%20multimodal%20content,unified%20representation%20in%20text%20tha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6EF96-63AD-B7EB-912C-5455370AF871}"/>
              </a:ext>
            </a:extLst>
          </p:cNvPr>
          <p:cNvSpPr>
            <a:spLocks noGrp="1"/>
          </p:cNvSpPr>
          <p:nvPr>
            <p:ph type="ctrTitle"/>
          </p:nvPr>
        </p:nvSpPr>
        <p:spPr/>
        <p:txBody>
          <a:bodyPr/>
          <a:lstStyle/>
          <a:p>
            <a:r>
              <a:rPr lang="en-US" sz="4000" dirty="0"/>
              <a:t>Automating ML/DL Paper-to-Code: Proposal Overview</a:t>
            </a:r>
          </a:p>
        </p:txBody>
      </p:sp>
      <p:sp>
        <p:nvSpPr>
          <p:cNvPr id="3" name="Subtitle 2">
            <a:extLst>
              <a:ext uri="{FF2B5EF4-FFF2-40B4-BE49-F238E27FC236}">
                <a16:creationId xmlns:a16="http://schemas.microsoft.com/office/drawing/2014/main" id="{0DDD752D-49D8-2575-9582-6420746F26B0}"/>
              </a:ext>
            </a:extLst>
          </p:cNvPr>
          <p:cNvSpPr>
            <a:spLocks noGrp="1"/>
          </p:cNvSpPr>
          <p:nvPr>
            <p:ph type="subTitle" idx="1"/>
          </p:nvPr>
        </p:nvSpPr>
        <p:spPr/>
        <p:txBody>
          <a:bodyPr>
            <a:normAutofit lnSpcReduction="10000"/>
          </a:bodyPr>
          <a:lstStyle/>
          <a:p>
            <a:r>
              <a:rPr lang="en-US" dirty="0"/>
              <a:t>By</a:t>
            </a:r>
            <a:br>
              <a:rPr lang="en-US" dirty="0"/>
            </a:br>
            <a:r>
              <a:rPr lang="en-US" dirty="0"/>
              <a:t>Bhavesh Arora</a:t>
            </a:r>
            <a:br>
              <a:rPr lang="en-US" dirty="0"/>
            </a:br>
            <a:r>
              <a:rPr lang="en-US" dirty="0"/>
              <a:t>m24de3022</a:t>
            </a:r>
          </a:p>
        </p:txBody>
      </p:sp>
    </p:spTree>
    <p:extLst>
      <p:ext uri="{BB962C8B-B14F-4D97-AF65-F5344CB8AC3E}">
        <p14:creationId xmlns:p14="http://schemas.microsoft.com/office/powerpoint/2010/main" val="3743310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49951-E7AE-BC62-0AF1-F425E706ED1F}"/>
              </a:ext>
            </a:extLst>
          </p:cNvPr>
          <p:cNvSpPr>
            <a:spLocks noGrp="1"/>
          </p:cNvSpPr>
          <p:nvPr>
            <p:ph type="title"/>
          </p:nvPr>
        </p:nvSpPr>
        <p:spPr/>
        <p:txBody>
          <a:bodyPr/>
          <a:lstStyle/>
          <a:p>
            <a:r>
              <a:rPr lang="en-US" dirty="0"/>
              <a:t>Context Definition</a:t>
            </a:r>
          </a:p>
        </p:txBody>
      </p:sp>
      <p:sp>
        <p:nvSpPr>
          <p:cNvPr id="3" name="Content Placeholder 2">
            <a:extLst>
              <a:ext uri="{FF2B5EF4-FFF2-40B4-BE49-F238E27FC236}">
                <a16:creationId xmlns:a16="http://schemas.microsoft.com/office/drawing/2014/main" id="{18BE9484-2A61-934B-C64F-EE55C8477F8C}"/>
              </a:ext>
            </a:extLst>
          </p:cNvPr>
          <p:cNvSpPr>
            <a:spLocks noGrp="1"/>
          </p:cNvSpPr>
          <p:nvPr>
            <p:ph idx="1"/>
          </p:nvPr>
        </p:nvSpPr>
        <p:spPr>
          <a:xfrm>
            <a:off x="1154954" y="2556366"/>
            <a:ext cx="8825659" cy="3416300"/>
          </a:xfrm>
        </p:spPr>
        <p:txBody>
          <a:bodyPr>
            <a:normAutofit fontScale="92500" lnSpcReduction="10000"/>
          </a:bodyPr>
          <a:lstStyle/>
          <a:p>
            <a:r>
              <a:rPr lang="en-US" b="1" dirty="0"/>
              <a:t>Reproducibility crisis in ML/DL: </a:t>
            </a:r>
            <a:r>
              <a:rPr lang="en-US" dirty="0"/>
              <a:t>Most machine learning/deep learning papers lack executable code. For instance, only ~19.5% of top-tier ML papers (2024) released their implementations. Without code or data, independent researchers cannot easily repeat or build upon the results.</a:t>
            </a:r>
            <a:br>
              <a:rPr lang="en-US" dirty="0"/>
            </a:br>
            <a:br>
              <a:rPr lang="en-US" dirty="0"/>
            </a:br>
            <a:r>
              <a:rPr lang="en-US" b="1" dirty="0"/>
              <a:t>Multimodal nature of papers: </a:t>
            </a:r>
            <a:r>
              <a:rPr lang="en-US" dirty="0"/>
              <a:t>Research papers include rich content beyond plain text – mathematical formulas, pseudocode, architecture diagrams, and tables. A true “</a:t>
            </a:r>
            <a:r>
              <a:rPr lang="en-US" dirty="0" err="1"/>
              <a:t>paper→code</a:t>
            </a:r>
            <a:r>
              <a:rPr lang="en-US" dirty="0"/>
              <a:t>” solution must parse and integrate these modalities.</a:t>
            </a:r>
            <a:br>
              <a:rPr lang="en-US" dirty="0"/>
            </a:br>
            <a:br>
              <a:rPr lang="en-US" dirty="0"/>
            </a:br>
            <a:r>
              <a:rPr lang="en-US" b="1" dirty="0"/>
              <a:t>Manual overhead: </a:t>
            </a:r>
            <a:r>
              <a:rPr lang="en-US" dirty="0"/>
              <a:t>In practice, scientists spend weeks reverse-engineering algorithms from paper descriptions. This is labor-intensive and error-prone, hindering progress.</a:t>
            </a:r>
          </a:p>
        </p:txBody>
      </p:sp>
    </p:spTree>
    <p:extLst>
      <p:ext uri="{BB962C8B-B14F-4D97-AF65-F5344CB8AC3E}">
        <p14:creationId xmlns:p14="http://schemas.microsoft.com/office/powerpoint/2010/main" val="3080244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FA864-6CC6-F073-DAB4-5535524B8C5E}"/>
              </a:ext>
            </a:extLst>
          </p:cNvPr>
          <p:cNvSpPr>
            <a:spLocks noGrp="1"/>
          </p:cNvSpPr>
          <p:nvPr>
            <p:ph type="title"/>
          </p:nvPr>
        </p:nvSpPr>
        <p:spPr/>
        <p:txBody>
          <a:bodyPr/>
          <a:lstStyle/>
          <a:p>
            <a:r>
              <a:rPr lang="en-US" dirty="0"/>
              <a:t>Motivation</a:t>
            </a:r>
          </a:p>
        </p:txBody>
      </p:sp>
      <p:sp>
        <p:nvSpPr>
          <p:cNvPr id="3" name="Content Placeholder 2">
            <a:extLst>
              <a:ext uri="{FF2B5EF4-FFF2-40B4-BE49-F238E27FC236}">
                <a16:creationId xmlns:a16="http://schemas.microsoft.com/office/drawing/2014/main" id="{EBC3B781-BFD1-0D53-A52B-A30454E20588}"/>
              </a:ext>
            </a:extLst>
          </p:cNvPr>
          <p:cNvSpPr>
            <a:spLocks noGrp="1"/>
          </p:cNvSpPr>
          <p:nvPr>
            <p:ph idx="1"/>
          </p:nvPr>
        </p:nvSpPr>
        <p:spPr/>
        <p:txBody>
          <a:bodyPr>
            <a:normAutofit fontScale="92500" lnSpcReduction="20000"/>
          </a:bodyPr>
          <a:lstStyle/>
          <a:p>
            <a:r>
              <a:rPr lang="en-US" b="1" dirty="0"/>
              <a:t>Speed up research replication: </a:t>
            </a:r>
            <a:r>
              <a:rPr lang="en-US" dirty="0"/>
              <a:t>Automating code generation could cut development time from weeks to hours. Researchers would spend less time re-implementing prior work and more on novel innovation.</a:t>
            </a:r>
            <a:br>
              <a:rPr lang="en-US" dirty="0"/>
            </a:br>
            <a:br>
              <a:rPr lang="en-US" dirty="0"/>
            </a:br>
            <a:r>
              <a:rPr lang="en-US" b="1" dirty="0"/>
              <a:t>Leverage AI advances: </a:t>
            </a:r>
            <a:r>
              <a:rPr lang="en-US" dirty="0"/>
              <a:t>Recent large language models (GPT-4, </a:t>
            </a:r>
            <a:r>
              <a:rPr lang="en-US" dirty="0" err="1"/>
              <a:t>LLaMA</a:t>
            </a:r>
            <a:r>
              <a:rPr lang="en-US" dirty="0"/>
              <a:t>, etc.) have “outstanding capabilities” in understanding scientific text and writing code</a:t>
            </a:r>
            <a:r>
              <a:rPr lang="en-US" b="1" dirty="0"/>
              <a:t>. </a:t>
            </a:r>
            <a:r>
              <a:rPr lang="en-US" dirty="0"/>
              <a:t>These AI advances make automatic paper-to-code pipelines feasible.</a:t>
            </a:r>
            <a:br>
              <a:rPr lang="en-US" dirty="0"/>
            </a:br>
            <a:br>
              <a:rPr lang="en-US" dirty="0"/>
            </a:br>
            <a:r>
              <a:rPr lang="en-US" b="1" dirty="0"/>
              <a:t>Boost reproducibility and trust: </a:t>
            </a:r>
            <a:r>
              <a:rPr lang="en-US" dirty="0"/>
              <a:t>Providing runnable code for published experiments strengthens reproducibility. A validated codebase ensures results can be independently verified and extended</a:t>
            </a:r>
            <a:r>
              <a:rPr lang="en-US" b="1" dirty="0"/>
              <a:t>.</a:t>
            </a:r>
            <a:br>
              <a:rPr lang="en-US" dirty="0"/>
            </a:br>
            <a:br>
              <a:rPr lang="en-US" dirty="0"/>
            </a:br>
            <a:r>
              <a:rPr lang="en-US" b="1" dirty="0"/>
              <a:t>Accelerate innovation: </a:t>
            </a:r>
            <a:r>
              <a:rPr lang="en-US" dirty="0"/>
              <a:t>By offloading boilerplate reproduction work, researchers can focus on new ideas. Automated code generation can “push the boundaries of knowledge” by streamlining how quickly ideas translate into practice</a:t>
            </a:r>
            <a:r>
              <a:rPr lang="en-US" b="1" dirty="0"/>
              <a:t>.</a:t>
            </a:r>
          </a:p>
        </p:txBody>
      </p:sp>
    </p:spTree>
    <p:extLst>
      <p:ext uri="{BB962C8B-B14F-4D97-AF65-F5344CB8AC3E}">
        <p14:creationId xmlns:p14="http://schemas.microsoft.com/office/powerpoint/2010/main" val="3821745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0642C-E2CA-227F-4BBE-7AC8AC0F24E4}"/>
              </a:ext>
            </a:extLst>
          </p:cNvPr>
          <p:cNvSpPr>
            <a:spLocks noGrp="1"/>
          </p:cNvSpPr>
          <p:nvPr>
            <p:ph type="title"/>
          </p:nvPr>
        </p:nvSpPr>
        <p:spPr/>
        <p:txBody>
          <a:bodyPr/>
          <a:lstStyle/>
          <a:p>
            <a:r>
              <a:rPr lang="en-US" dirty="0"/>
              <a:t>Reason</a:t>
            </a:r>
          </a:p>
        </p:txBody>
      </p:sp>
      <p:sp>
        <p:nvSpPr>
          <p:cNvPr id="3" name="Content Placeholder 2">
            <a:extLst>
              <a:ext uri="{FF2B5EF4-FFF2-40B4-BE49-F238E27FC236}">
                <a16:creationId xmlns:a16="http://schemas.microsoft.com/office/drawing/2014/main" id="{FB3429AA-47D5-3CA2-AA3F-1928CC24EB54}"/>
              </a:ext>
            </a:extLst>
          </p:cNvPr>
          <p:cNvSpPr>
            <a:spLocks noGrp="1"/>
          </p:cNvSpPr>
          <p:nvPr>
            <p:ph idx="1"/>
          </p:nvPr>
        </p:nvSpPr>
        <p:spPr/>
        <p:txBody>
          <a:bodyPr>
            <a:normAutofit fontScale="92500" lnSpcReduction="20000"/>
          </a:bodyPr>
          <a:lstStyle/>
          <a:p>
            <a:r>
              <a:rPr lang="en-US" b="1" dirty="0"/>
              <a:t>Gap in existing tools: </a:t>
            </a:r>
            <a:r>
              <a:rPr lang="en-US" dirty="0"/>
              <a:t>Current solutions are limited. For example, DLPaper2Code extracts deep-learning flowcharts and tables into code for specific frameworks, but handles only neural-network diagrams, not full papers. Other tools (e.g. </a:t>
            </a:r>
            <a:r>
              <a:rPr lang="en-US" dirty="0" err="1"/>
              <a:t>CatalyzeX</a:t>
            </a:r>
            <a:r>
              <a:rPr lang="en-US" dirty="0"/>
              <a:t>) only link to existing repos. A general, end-to-end converter that handles arbitrary ML/DL papers is still missing.</a:t>
            </a:r>
            <a:br>
              <a:rPr lang="en-US" dirty="0"/>
            </a:br>
            <a:br>
              <a:rPr lang="en-US" dirty="0"/>
            </a:br>
            <a:r>
              <a:rPr lang="en-US" b="1" dirty="0"/>
              <a:t>Complexity of the task: </a:t>
            </a:r>
            <a:r>
              <a:rPr lang="en-US" dirty="0"/>
              <a:t>Generating a full multi-file code repository from a paper “remains challenging, particularly for implementing ML algorithms described in research papers”. Papers omit details (hyperparameters, data preprocessing, training loops, etc.), and models span different libraries. A multi-agent LLM pipeline can tackle this complexity.</a:t>
            </a:r>
            <a:br>
              <a:rPr lang="en-US" dirty="0"/>
            </a:br>
            <a:br>
              <a:rPr lang="en-US" dirty="0"/>
            </a:br>
            <a:r>
              <a:rPr lang="en-US" b="1" dirty="0"/>
              <a:t>Need for automation: </a:t>
            </a:r>
            <a:r>
              <a:rPr lang="en-US" dirty="0"/>
              <a:t>The lack of shared code is a known reproducibility barrier. By automating paper-to-code, we address a critical need: rapidly produce shareable, executable implementations for ML/DL publications.</a:t>
            </a:r>
          </a:p>
        </p:txBody>
      </p:sp>
    </p:spTree>
    <p:extLst>
      <p:ext uri="{BB962C8B-B14F-4D97-AF65-F5344CB8AC3E}">
        <p14:creationId xmlns:p14="http://schemas.microsoft.com/office/powerpoint/2010/main" val="2515226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9DA8E-F0A3-1FC5-74CC-D1D2D18A7A0F}"/>
              </a:ext>
            </a:extLst>
          </p:cNvPr>
          <p:cNvSpPr>
            <a:spLocks noGrp="1"/>
          </p:cNvSpPr>
          <p:nvPr>
            <p:ph type="title"/>
          </p:nvPr>
        </p:nvSpPr>
        <p:spPr/>
        <p:txBody>
          <a:bodyPr/>
          <a:lstStyle/>
          <a:p>
            <a:r>
              <a:rPr lang="en-US" dirty="0"/>
              <a:t>Tools and Techniques Used</a:t>
            </a:r>
          </a:p>
        </p:txBody>
      </p:sp>
      <p:sp>
        <p:nvSpPr>
          <p:cNvPr id="3" name="Content Placeholder 2">
            <a:extLst>
              <a:ext uri="{FF2B5EF4-FFF2-40B4-BE49-F238E27FC236}">
                <a16:creationId xmlns:a16="http://schemas.microsoft.com/office/drawing/2014/main" id="{818794B6-5DEB-77C4-7DBF-C596AEE0812F}"/>
              </a:ext>
            </a:extLst>
          </p:cNvPr>
          <p:cNvSpPr>
            <a:spLocks noGrp="1"/>
          </p:cNvSpPr>
          <p:nvPr>
            <p:ph idx="1"/>
          </p:nvPr>
        </p:nvSpPr>
        <p:spPr/>
        <p:txBody>
          <a:bodyPr>
            <a:normAutofit fontScale="92500" lnSpcReduction="10000"/>
          </a:bodyPr>
          <a:lstStyle/>
          <a:p>
            <a:r>
              <a:rPr lang="en-US" b="1" dirty="0"/>
              <a:t>Large Language Models (LLMs): </a:t>
            </a:r>
            <a:r>
              <a:rPr lang="en-US" dirty="0"/>
              <a:t>We will use state-of-the-art LLMs (e.g., GPT-4, </a:t>
            </a:r>
            <a:r>
              <a:rPr lang="en-US" dirty="0" err="1"/>
              <a:t>LLaMA</a:t>
            </a:r>
            <a:r>
              <a:rPr lang="en-US" dirty="0"/>
              <a:t>, Code LLMs) to interpret the paper’s text, pseudocode, and equations, and to generate code snippets and documentation. LLMs excel at mapping natural language to code.</a:t>
            </a:r>
            <a:br>
              <a:rPr lang="en-US" dirty="0"/>
            </a:br>
            <a:br>
              <a:rPr lang="en-US" dirty="0"/>
            </a:br>
            <a:r>
              <a:rPr lang="en-US" b="1" dirty="0"/>
              <a:t>Vision and OCR: </a:t>
            </a:r>
            <a:r>
              <a:rPr lang="en-US" dirty="0"/>
              <a:t>For diagrams and tables, we employ vision-language models and OCR. For example, AutoP2C uses an OCR model (</a:t>
            </a:r>
            <a:r>
              <a:rPr lang="en-US" dirty="0" err="1"/>
              <a:t>MinerU</a:t>
            </a:r>
            <a:r>
              <a:rPr lang="en-US" dirty="0"/>
              <a:t>) for text and a VLM for parsing architecture figures. This allows extracting network architectures and data pipelines from paper figures.</a:t>
            </a:r>
            <a:br>
              <a:rPr lang="en-US" dirty="0"/>
            </a:br>
            <a:br>
              <a:rPr lang="en-US" dirty="0"/>
            </a:br>
            <a:r>
              <a:rPr lang="en-US" b="1" dirty="0"/>
              <a:t>Multi-Agent Framework: </a:t>
            </a:r>
            <a:r>
              <a:rPr lang="en-US" dirty="0"/>
              <a:t>We structure the system as specialized agents (in the spirit of frameworks like </a:t>
            </a:r>
            <a:r>
              <a:rPr lang="en-US" dirty="0" err="1"/>
              <a:t>ChatDev</a:t>
            </a:r>
            <a:r>
              <a:rPr lang="en-US" dirty="0"/>
              <a:t>/</a:t>
            </a:r>
            <a:r>
              <a:rPr lang="en-US" dirty="0" err="1"/>
              <a:t>MetaGPT</a:t>
            </a:r>
            <a:r>
              <a:rPr lang="en-US" dirty="0"/>
              <a:t>). Each agent has a role (e.g. analysis, code generation, testing), and agents communicate via structured data. Tools like </a:t>
            </a:r>
            <a:r>
              <a:rPr lang="en-US" dirty="0" err="1"/>
              <a:t>LangChain</a:t>
            </a:r>
            <a:r>
              <a:rPr lang="en-US" dirty="0"/>
              <a:t> or custom workflows can orchestrate these agents.</a:t>
            </a:r>
          </a:p>
        </p:txBody>
      </p:sp>
    </p:spTree>
    <p:extLst>
      <p:ext uri="{BB962C8B-B14F-4D97-AF65-F5344CB8AC3E}">
        <p14:creationId xmlns:p14="http://schemas.microsoft.com/office/powerpoint/2010/main" val="1008903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9AA02-90FB-B0F9-1997-2AA86A23699D}"/>
              </a:ext>
            </a:extLst>
          </p:cNvPr>
          <p:cNvSpPr>
            <a:spLocks noGrp="1"/>
          </p:cNvSpPr>
          <p:nvPr>
            <p:ph type="title"/>
          </p:nvPr>
        </p:nvSpPr>
        <p:spPr/>
        <p:txBody>
          <a:bodyPr/>
          <a:lstStyle/>
          <a:p>
            <a:r>
              <a:rPr lang="en-US" dirty="0"/>
              <a:t>Tools and Techniques Used</a:t>
            </a:r>
          </a:p>
        </p:txBody>
      </p:sp>
      <p:sp>
        <p:nvSpPr>
          <p:cNvPr id="3" name="Content Placeholder 2">
            <a:extLst>
              <a:ext uri="{FF2B5EF4-FFF2-40B4-BE49-F238E27FC236}">
                <a16:creationId xmlns:a16="http://schemas.microsoft.com/office/drawing/2014/main" id="{808B0CC2-8F12-1D62-FCCD-A7FCE0C2192F}"/>
              </a:ext>
            </a:extLst>
          </p:cNvPr>
          <p:cNvSpPr>
            <a:spLocks noGrp="1"/>
          </p:cNvSpPr>
          <p:nvPr>
            <p:ph idx="1"/>
          </p:nvPr>
        </p:nvSpPr>
        <p:spPr/>
        <p:txBody>
          <a:bodyPr>
            <a:normAutofit fontScale="92500" lnSpcReduction="20000"/>
          </a:bodyPr>
          <a:lstStyle/>
          <a:p>
            <a:r>
              <a:rPr lang="en-US" b="1" dirty="0"/>
              <a:t>Intermediate Representations: </a:t>
            </a:r>
            <a:r>
              <a:rPr lang="en-US" dirty="0"/>
              <a:t>Extracted information (model components, algorithms, hyperparameters) is stored in structured formats (JSON/schema). This intermediate representation ensures consistency across agents and steps.</a:t>
            </a:r>
            <a:br>
              <a:rPr lang="en-US" dirty="0"/>
            </a:br>
            <a:br>
              <a:rPr lang="en-US" dirty="0"/>
            </a:br>
            <a:r>
              <a:rPr lang="en-US" b="1" dirty="0"/>
              <a:t>ML Libraries &amp; Frameworks: </a:t>
            </a:r>
            <a:r>
              <a:rPr lang="en-US" dirty="0"/>
              <a:t>Generated code will target popular ML/DL libraries (e.g. </a:t>
            </a:r>
            <a:r>
              <a:rPr lang="en-US" dirty="0" err="1"/>
              <a:t>PyTorch</a:t>
            </a:r>
            <a:r>
              <a:rPr lang="en-US" dirty="0"/>
              <a:t>, TensorFlow, scikit-learn). An API-mapping module matches abstract components to concrete classes/functions in these libraries.</a:t>
            </a:r>
            <a:br>
              <a:rPr lang="en-US" dirty="0"/>
            </a:br>
            <a:br>
              <a:rPr lang="en-US" dirty="0"/>
            </a:br>
            <a:r>
              <a:rPr lang="en-US" b="1" dirty="0"/>
              <a:t>Testing and CI/CD: </a:t>
            </a:r>
            <a:r>
              <a:rPr lang="en-US" dirty="0"/>
              <a:t>We use standard testing tools (unit tests, evaluation scripts) and continuous integration (GitHub Actions, CI pipelines) to automatically run experiments. The Verification agent compares outcomes (metrics, loss curves) to the paper’s reported results, flagging deviations.</a:t>
            </a:r>
            <a:br>
              <a:rPr lang="en-US" dirty="0"/>
            </a:br>
            <a:br>
              <a:rPr lang="en-US" dirty="0"/>
            </a:br>
            <a:r>
              <a:rPr lang="en-US" b="1" dirty="0"/>
              <a:t>Data and Benchmarks: </a:t>
            </a:r>
            <a:r>
              <a:rPr lang="en-US" dirty="0"/>
              <a:t>The system may utilize public datasets (e.g. CIFAR-10 for vision papers) or synthetic inputs as tests. Benchmarks like </a:t>
            </a:r>
            <a:r>
              <a:rPr lang="en-US" dirty="0" err="1"/>
              <a:t>PaperBench</a:t>
            </a:r>
            <a:r>
              <a:rPr lang="en-US" dirty="0"/>
              <a:t> offer protocols for evaluation</a:t>
            </a:r>
          </a:p>
        </p:txBody>
      </p:sp>
    </p:spTree>
    <p:extLst>
      <p:ext uri="{BB962C8B-B14F-4D97-AF65-F5344CB8AC3E}">
        <p14:creationId xmlns:p14="http://schemas.microsoft.com/office/powerpoint/2010/main" val="4010655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A74BC-4AAE-F4D6-C19F-7BFBDDF47E5D}"/>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A0DF52FA-BF47-890C-531F-DBDC8A82BCAA}"/>
              </a:ext>
            </a:extLst>
          </p:cNvPr>
          <p:cNvSpPr>
            <a:spLocks noGrp="1"/>
          </p:cNvSpPr>
          <p:nvPr>
            <p:ph idx="1"/>
          </p:nvPr>
        </p:nvSpPr>
        <p:spPr/>
        <p:txBody>
          <a:bodyPr>
            <a:normAutofit fontScale="92500" lnSpcReduction="20000"/>
          </a:bodyPr>
          <a:lstStyle/>
          <a:p>
            <a:r>
              <a:rPr lang="en-US" b="1" dirty="0"/>
              <a:t>Reproducibility fundamentals: </a:t>
            </a:r>
            <a:r>
              <a:rPr lang="en-US" dirty="0"/>
              <a:t>Reproducibility means independent researchers can obtain the same scientific conclusions using the original experiment’s methods and code. In ML/DL, sharing full implementations (text, code, data) is crucial for this. If only descriptions are shared, reproducibility is weak.</a:t>
            </a:r>
            <a:br>
              <a:rPr lang="en-US" dirty="0"/>
            </a:br>
            <a:br>
              <a:rPr lang="en-US" dirty="0"/>
            </a:br>
            <a:r>
              <a:rPr lang="en-US" b="1" dirty="0"/>
              <a:t>Reproducibility crisis: </a:t>
            </a:r>
            <a:r>
              <a:rPr lang="en-US" dirty="0"/>
              <a:t>Numerous studies note that many fields, including ML, suffer from reproducibility issues due to missing details. For example, Gundersen et al. define reproducibility as drawing the same conclusions with shared materials. Lack of shared code/data “significantly contributes” to irreproducible results.</a:t>
            </a:r>
            <a:br>
              <a:rPr lang="en-US" dirty="0"/>
            </a:br>
            <a:br>
              <a:rPr lang="en-US" dirty="0"/>
            </a:br>
            <a:r>
              <a:rPr lang="en-US" b="1" dirty="0"/>
              <a:t>Existing manual workflow: </a:t>
            </a:r>
            <a:r>
              <a:rPr lang="en-US" dirty="0"/>
              <a:t>Typically, a researcher reads a paper, infers algorithms, chooses default parameters (often guessing), and implements models by hand. This ad-hoc process is prone to errors and inconsistencies (even small differences in parameter choices or random seeds can change outcomes).</a:t>
            </a:r>
          </a:p>
        </p:txBody>
      </p:sp>
    </p:spTree>
    <p:extLst>
      <p:ext uri="{BB962C8B-B14F-4D97-AF65-F5344CB8AC3E}">
        <p14:creationId xmlns:p14="http://schemas.microsoft.com/office/powerpoint/2010/main" val="3757296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E2782-D138-8F79-53E6-E5E5527A1760}"/>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7F8835E9-F91B-0841-0B33-BCE52C4A23EF}"/>
              </a:ext>
            </a:extLst>
          </p:cNvPr>
          <p:cNvSpPr>
            <a:spLocks noGrp="1"/>
          </p:cNvSpPr>
          <p:nvPr>
            <p:ph idx="1"/>
          </p:nvPr>
        </p:nvSpPr>
        <p:spPr/>
        <p:txBody>
          <a:bodyPr>
            <a:normAutofit fontScale="92500" lnSpcReduction="20000"/>
          </a:bodyPr>
          <a:lstStyle/>
          <a:p>
            <a:r>
              <a:rPr lang="en-US" b="1" dirty="0"/>
              <a:t>DLPaper2Code (Sethi et al., 2018): </a:t>
            </a:r>
            <a:r>
              <a:rPr lang="en-US" dirty="0"/>
              <a:t>Early work focused on deep learning diagrams. It parses design flow charts from papers and tables, converts them into an abstract computation graph, and outputs code in frameworks like </a:t>
            </a:r>
            <a:r>
              <a:rPr lang="en-US" dirty="0" err="1"/>
              <a:t>Keras</a:t>
            </a:r>
            <a:r>
              <a:rPr lang="en-US" dirty="0"/>
              <a:t>/Caffe. This is useful for certain DL papers but does not handle full text or general algorithms.</a:t>
            </a:r>
            <a:br>
              <a:rPr lang="en-US" dirty="0"/>
            </a:br>
            <a:br>
              <a:rPr lang="en-US" dirty="0"/>
            </a:br>
            <a:r>
              <a:rPr lang="en-US" b="1" dirty="0" err="1"/>
              <a:t>PaperBench</a:t>
            </a:r>
            <a:r>
              <a:rPr lang="en-US" b="1" dirty="0"/>
              <a:t> (OpenAI, 2023): </a:t>
            </a:r>
            <a:r>
              <a:rPr lang="en-US" dirty="0"/>
              <a:t>A recent benchmark evaluating AI agents on replicating ML research. </a:t>
            </a:r>
            <a:r>
              <a:rPr lang="en-US" dirty="0" err="1"/>
              <a:t>PaperBench</a:t>
            </a:r>
            <a:r>
              <a:rPr lang="en-US" dirty="0"/>
              <a:t> defines rubrics for Code Development, Execution, and Result Match. Its simplified “</a:t>
            </a:r>
            <a:r>
              <a:rPr lang="en-US" dirty="0" err="1"/>
              <a:t>PaperBench</a:t>
            </a:r>
            <a:r>
              <a:rPr lang="en-US" dirty="0"/>
              <a:t> Code-Dev” measures code generation quality, highlighting the challenges in this task.</a:t>
            </a:r>
            <a:br>
              <a:rPr lang="en-US" dirty="0"/>
            </a:br>
            <a:br>
              <a:rPr lang="en-US" dirty="0"/>
            </a:br>
            <a:r>
              <a:rPr lang="en-US" b="1" dirty="0" err="1"/>
              <a:t>PaperCoder</a:t>
            </a:r>
            <a:r>
              <a:rPr lang="en-US" b="1" dirty="0"/>
              <a:t> / Paper2Code (Seo et al., 2025): </a:t>
            </a:r>
            <a:r>
              <a:rPr lang="en-US" dirty="0"/>
              <a:t>A multi-agent LLM framework specifically for ML papers. It operates in three stages – planning, analysis, coding. In planning it extracts core components and architectural design; analysis refines file-level specs; coding generates the codebase. </a:t>
            </a:r>
            <a:r>
              <a:rPr lang="en-US" dirty="0" err="1"/>
              <a:t>PaperCoder’s</a:t>
            </a:r>
            <a:r>
              <a:rPr lang="en-US" dirty="0"/>
              <a:t> authors show strong results on ML conference papers, outperforming baselines.</a:t>
            </a:r>
          </a:p>
        </p:txBody>
      </p:sp>
    </p:spTree>
    <p:extLst>
      <p:ext uri="{BB962C8B-B14F-4D97-AF65-F5344CB8AC3E}">
        <p14:creationId xmlns:p14="http://schemas.microsoft.com/office/powerpoint/2010/main" val="1851713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BA718-1685-E083-3777-676CD167B137}"/>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C6577589-1C99-6389-5B60-3AA5E3EE9485}"/>
              </a:ext>
            </a:extLst>
          </p:cNvPr>
          <p:cNvSpPr>
            <a:spLocks noGrp="1"/>
          </p:cNvSpPr>
          <p:nvPr>
            <p:ph idx="1"/>
          </p:nvPr>
        </p:nvSpPr>
        <p:spPr/>
        <p:txBody>
          <a:bodyPr/>
          <a:lstStyle/>
          <a:p>
            <a:r>
              <a:rPr lang="en-US" b="1" dirty="0"/>
              <a:t>AutoP2C (Nasiri et al., 2025): </a:t>
            </a:r>
            <a:r>
              <a:rPr lang="en-US" dirty="0"/>
              <a:t>Another recent LLM-based multi-stage system. It emphasizes multimodal parsing (OCR + vision models) and hierarchical task decomposition, producing a code repository with explanatory diagrams. AutoP2C also includes an iterative implement-and-test loop to refine the code until it reproduces the paper’s results.</a:t>
            </a:r>
            <a:br>
              <a:rPr lang="en-US" dirty="0"/>
            </a:br>
            <a:br>
              <a:rPr lang="en-US" dirty="0"/>
            </a:br>
            <a:r>
              <a:rPr lang="en-US" b="1" dirty="0"/>
              <a:t>Multi-Agent Software Frameworks: </a:t>
            </a:r>
            <a:r>
              <a:rPr lang="en-US" dirty="0"/>
              <a:t>In general software development, frameworks like </a:t>
            </a:r>
            <a:r>
              <a:rPr lang="en-US" dirty="0" err="1"/>
              <a:t>ChatDev</a:t>
            </a:r>
            <a:r>
              <a:rPr lang="en-US" dirty="0"/>
              <a:t> and </a:t>
            </a:r>
            <a:r>
              <a:rPr lang="en-US" dirty="0" err="1"/>
              <a:t>MetaGPT</a:t>
            </a:r>
            <a:r>
              <a:rPr lang="en-US" dirty="0"/>
              <a:t> demonstrate dividing coding tasks among role-specific LLM agents. These inspire the pipeline design: specialized agents collaboratively build a complex codebase through structured workflows.</a:t>
            </a:r>
          </a:p>
        </p:txBody>
      </p:sp>
    </p:spTree>
    <p:extLst>
      <p:ext uri="{BB962C8B-B14F-4D97-AF65-F5344CB8AC3E}">
        <p14:creationId xmlns:p14="http://schemas.microsoft.com/office/powerpoint/2010/main" val="1863873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4FD94-5497-DC80-ECE6-10C5C3BF5ED7}"/>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606CDA91-1784-2A7C-EA72-EFB973C6903E}"/>
              </a:ext>
            </a:extLst>
          </p:cNvPr>
          <p:cNvSpPr>
            <a:spLocks noGrp="1"/>
          </p:cNvSpPr>
          <p:nvPr>
            <p:ph idx="1"/>
          </p:nvPr>
        </p:nvSpPr>
        <p:spPr/>
        <p:txBody>
          <a:bodyPr>
            <a:normAutofit fontScale="85000" lnSpcReduction="10000"/>
          </a:bodyPr>
          <a:lstStyle/>
          <a:p>
            <a:r>
              <a:rPr lang="en-US" sz="2100" dirty="0"/>
              <a:t>We propose a modular, agentic pipeline with the following stages:</a:t>
            </a:r>
            <a:br>
              <a:rPr lang="en-US" dirty="0"/>
            </a:br>
            <a:br>
              <a:rPr lang="en-US" dirty="0"/>
            </a:br>
            <a:r>
              <a:rPr lang="en-US" b="1" dirty="0"/>
              <a:t>Paper Ingestion &amp; Parsing: </a:t>
            </a:r>
            <a:r>
              <a:rPr lang="en-US" dirty="0"/>
              <a:t>Download the PDF and extract content. Run OCR on text and tables, use a vision model on figures. An Analysis agent (powered by an LLM) converts all modalities into a structured description of the model, algorithms, and settings.</a:t>
            </a:r>
            <a:br>
              <a:rPr lang="en-US" dirty="0"/>
            </a:br>
            <a:br>
              <a:rPr lang="en-US" dirty="0"/>
            </a:br>
            <a:r>
              <a:rPr lang="en-US" b="1" dirty="0"/>
              <a:t>Planning &amp; Decomposition: </a:t>
            </a:r>
            <a:r>
              <a:rPr lang="en-US" dirty="0"/>
              <a:t>A Planner agent builds a high-level implementation plan (as in </a:t>
            </a:r>
            <a:r>
              <a:rPr lang="en-US" dirty="0" err="1"/>
              <a:t>PaperCoder</a:t>
            </a:r>
            <a:r>
              <a:rPr lang="en-US" dirty="0"/>
              <a:t>). It outlines the core components (models, datasets, objectives) and designs the repository architecture: files, classes, and module dependencies. This includes an execution order (logic design) and a generated configuration (hyperparameters, paths).</a:t>
            </a:r>
            <a:br>
              <a:rPr lang="en-US" dirty="0"/>
            </a:br>
            <a:br>
              <a:rPr lang="en-US" dirty="0"/>
            </a:br>
            <a:r>
              <a:rPr lang="en-US" b="1" dirty="0"/>
              <a:t>API/Library Mapping: </a:t>
            </a:r>
            <a:r>
              <a:rPr lang="en-US" dirty="0"/>
              <a:t>An agent maps abstract elements to concrete libraries. For example, it assigns a “convolutional layer” to torch.nn.Conv2d, or an optimization step to </a:t>
            </a:r>
            <a:r>
              <a:rPr lang="en-US" dirty="0" err="1"/>
              <a:t>tf.keras.optimizers</a:t>
            </a:r>
            <a:r>
              <a:rPr lang="en-US" dirty="0"/>
              <a:t>. It may retrieve template snippets from documentation or code search as needed.</a:t>
            </a:r>
          </a:p>
        </p:txBody>
      </p:sp>
    </p:spTree>
    <p:extLst>
      <p:ext uri="{BB962C8B-B14F-4D97-AF65-F5344CB8AC3E}">
        <p14:creationId xmlns:p14="http://schemas.microsoft.com/office/powerpoint/2010/main" val="1400911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0AEB3-9212-6C33-3008-5B08EBCAFA83}"/>
              </a:ext>
            </a:extLst>
          </p:cNvPr>
          <p:cNvSpPr>
            <a:spLocks noGrp="1"/>
          </p:cNvSpPr>
          <p:nvPr>
            <p:ph type="title"/>
          </p:nvPr>
        </p:nvSpPr>
        <p:spPr/>
        <p:txBody>
          <a:bodyPr/>
          <a:lstStyle/>
          <a:p>
            <a:r>
              <a:rPr lang="en-US" dirty="0"/>
              <a:t>Approach</a:t>
            </a:r>
          </a:p>
        </p:txBody>
      </p:sp>
      <p:sp>
        <p:nvSpPr>
          <p:cNvPr id="3" name="Content Placeholder 2">
            <a:extLst>
              <a:ext uri="{FF2B5EF4-FFF2-40B4-BE49-F238E27FC236}">
                <a16:creationId xmlns:a16="http://schemas.microsoft.com/office/drawing/2014/main" id="{65BE8D9D-13CC-597E-0E3E-910E0F44CA76}"/>
              </a:ext>
            </a:extLst>
          </p:cNvPr>
          <p:cNvSpPr>
            <a:spLocks noGrp="1"/>
          </p:cNvSpPr>
          <p:nvPr>
            <p:ph idx="1"/>
          </p:nvPr>
        </p:nvSpPr>
        <p:spPr/>
        <p:txBody>
          <a:bodyPr>
            <a:normAutofit fontScale="85000" lnSpcReduction="20000"/>
          </a:bodyPr>
          <a:lstStyle/>
          <a:p>
            <a:r>
              <a:rPr lang="en-US" b="1" dirty="0"/>
              <a:t>Code Generation &amp; Integration: </a:t>
            </a:r>
            <a:r>
              <a:rPr lang="en-US" dirty="0"/>
              <a:t>Agents generate each code file in sequence. Using the plan as context, a Coding agent writes modular code (model definitions, data loaders, training scripts, evaluation scripts). The pieces are assembled into a runnable repository (with a main train.py, eval.py, and a requirements.txt). This mirrors </a:t>
            </a:r>
            <a:r>
              <a:rPr lang="en-US" dirty="0" err="1"/>
              <a:t>MetaGPT’s</a:t>
            </a:r>
            <a:r>
              <a:rPr lang="en-US" dirty="0"/>
              <a:t> waterfall pipeline and </a:t>
            </a:r>
            <a:r>
              <a:rPr lang="en-US" dirty="0" err="1"/>
              <a:t>PaperCoder’s</a:t>
            </a:r>
            <a:r>
              <a:rPr lang="en-US" dirty="0"/>
              <a:t> generation phase.</a:t>
            </a:r>
            <a:br>
              <a:rPr lang="en-US" dirty="0"/>
            </a:br>
            <a:br>
              <a:rPr lang="en-US" dirty="0"/>
            </a:br>
            <a:r>
              <a:rPr lang="en-US" b="1" dirty="0"/>
              <a:t>Verification Loop: </a:t>
            </a:r>
            <a:r>
              <a:rPr lang="en-US" dirty="0"/>
              <a:t>A Verification agent automatically runs the generated code on benchmark or sample data. It computes evaluation metrics (e.g. accuracy, loss) and compares them to the paper’s reported values (within tolerances). Any significant discrepancies are logged. If errors occur or metrics deviate, a Debugging agent diagnoses the issue (e.g. missing hyperparameter, incorrect data split) and issues prompts to refine the code or parameters. This loop (</a:t>
            </a:r>
            <a:r>
              <a:rPr lang="en-US" dirty="0" err="1"/>
              <a:t>generate→test→refine</a:t>
            </a:r>
            <a:r>
              <a:rPr lang="en-US" dirty="0"/>
              <a:t>) continues until the results align with the paper.</a:t>
            </a:r>
            <a:br>
              <a:rPr lang="en-US" dirty="0"/>
            </a:br>
            <a:br>
              <a:rPr lang="en-US" dirty="0"/>
            </a:br>
            <a:r>
              <a:rPr lang="en-US" b="1" dirty="0"/>
              <a:t>Deployment: </a:t>
            </a:r>
            <a:r>
              <a:rPr lang="en-US" dirty="0"/>
              <a:t>Once validated, the system packages the code as a Git repository with documentation. It can auto-generate a CI/CD configuration (e.g. GitHub Actions) so that the code is continuously tested whenever updated. The final product is a ready-to-use implementation of the paper.</a:t>
            </a:r>
          </a:p>
        </p:txBody>
      </p:sp>
    </p:spTree>
    <p:extLst>
      <p:ext uri="{BB962C8B-B14F-4D97-AF65-F5344CB8AC3E}">
        <p14:creationId xmlns:p14="http://schemas.microsoft.com/office/powerpoint/2010/main" val="411420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CACEA-03BF-07E4-052A-22CE144E99E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AB14FA-8C55-81D7-DAA0-2D5FB3CCA857}"/>
              </a:ext>
            </a:extLst>
          </p:cNvPr>
          <p:cNvSpPr>
            <a:spLocks noGrp="1"/>
          </p:cNvSpPr>
          <p:nvPr>
            <p:ph idx="1"/>
          </p:nvPr>
        </p:nvSpPr>
        <p:spPr/>
        <p:txBody>
          <a:bodyPr/>
          <a:lstStyle/>
          <a:p>
            <a:r>
              <a:rPr lang="en-US" dirty="0"/>
              <a:t>Each stage is managed by an LLM agent with memory of previous steps. The top-level Planner coordinates data flows between agents and resolves conflicts. This architecture (similar to AutoP2C’s four-stage pipeline) ensures coverage of all modalities and tasks.</a:t>
            </a:r>
          </a:p>
        </p:txBody>
      </p:sp>
    </p:spTree>
    <p:extLst>
      <p:ext uri="{BB962C8B-B14F-4D97-AF65-F5344CB8AC3E}">
        <p14:creationId xmlns:p14="http://schemas.microsoft.com/office/powerpoint/2010/main" val="885098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9B9E9-C289-2E8A-8424-B9520AC0C265}"/>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6189B65-D5BC-5763-43BD-2FDE1ED92812}"/>
              </a:ext>
            </a:extLst>
          </p:cNvPr>
          <p:cNvSpPr>
            <a:spLocks noGrp="1"/>
          </p:cNvSpPr>
          <p:nvPr>
            <p:ph idx="1"/>
          </p:nvPr>
        </p:nvSpPr>
        <p:spPr>
          <a:xfrm>
            <a:off x="1154954" y="2603500"/>
            <a:ext cx="8825659" cy="4254500"/>
          </a:xfrm>
        </p:spPr>
        <p:txBody>
          <a:bodyPr>
            <a:noAutofit/>
          </a:bodyPr>
          <a:lstStyle/>
          <a:p>
            <a:r>
              <a:rPr lang="en-US" sz="1200" dirty="0"/>
              <a:t>1. </a:t>
            </a:r>
            <a:r>
              <a:rPr lang="en-US" sz="1200" dirty="0">
                <a:hlinkClick r:id="rId2"/>
              </a:rPr>
              <a:t>https://arxiv.org/html/2504.17192v3#:~:text=Meanwhile%2C%20recent%20Large%20Language%20Models,In</a:t>
            </a:r>
            <a:endParaRPr lang="en-US" sz="1200" dirty="0"/>
          </a:p>
          <a:p>
            <a:r>
              <a:rPr lang="en-US" sz="1200" dirty="0"/>
              <a:t>2. </a:t>
            </a:r>
            <a:r>
              <a:rPr lang="en-US" sz="1200" dirty="0">
                <a:hlinkClick r:id="rId3"/>
              </a:rPr>
              <a:t>https://arxiv.org/html/2504.17192v3#:~:text=Image%3A%20Refer%20to%20caption%20Figure,and%20experiments%20of%20the%20paper</a:t>
            </a:r>
            <a:endParaRPr lang="en-US" sz="1200" dirty="0"/>
          </a:p>
          <a:p>
            <a:br>
              <a:rPr lang="en-US" sz="1200" dirty="0"/>
            </a:br>
            <a:r>
              <a:rPr lang="en-US" sz="1200" dirty="0"/>
              <a:t>3. </a:t>
            </a:r>
            <a:r>
              <a:rPr lang="en-US" sz="1200" dirty="0">
                <a:hlinkClick r:id="rId4"/>
              </a:rPr>
              <a:t>https://arxiv.org/html/2504.20115v2#:~:text=The%20second%20stage%2C%20multimodal%20content,unified%20representation%20in%20text%20that</a:t>
            </a:r>
            <a:endParaRPr lang="en-US" sz="1200" dirty="0"/>
          </a:p>
          <a:p>
            <a:br>
              <a:rPr lang="en-US" sz="1200" dirty="0"/>
            </a:br>
            <a:r>
              <a:rPr lang="en-US" sz="1200" dirty="0"/>
              <a:t>4. </a:t>
            </a:r>
            <a:r>
              <a:rPr lang="en-US" sz="1200" dirty="0">
                <a:hlinkClick r:id="rId5"/>
              </a:rPr>
              <a:t>https://arxiv.org/html/2504.17192v3#:~:text=ChatDev%C2%A0%5Bchatdev%5D%20is%20a%20multi,of%20planning%2C%20analysis%2C%20and%20code</a:t>
            </a:r>
            <a:endParaRPr lang="en-US" sz="1200" dirty="0"/>
          </a:p>
          <a:p>
            <a:br>
              <a:rPr lang="en-US" sz="1200" dirty="0"/>
            </a:br>
            <a:r>
              <a:rPr lang="en-US" sz="1200" dirty="0"/>
              <a:t>5. </a:t>
            </a:r>
            <a:br>
              <a:rPr lang="en-US" sz="1200" dirty="0"/>
            </a:br>
            <a:r>
              <a:rPr lang="en-US" sz="1200" dirty="0">
                <a:hlinkClick r:id="rId6"/>
              </a:rPr>
              <a:t>https://arxiv.org/html/2504.17192v3#:~:text=developers%20and%20researchers%20in%20writing,grained%20interpretation</a:t>
            </a:r>
            <a:endParaRPr lang="en-US" sz="1200" dirty="0"/>
          </a:p>
          <a:p>
            <a:br>
              <a:rPr lang="en-US" sz="1200" dirty="0"/>
            </a:br>
            <a:r>
              <a:rPr lang="en-US" sz="1200" dirty="0"/>
              <a:t>6. </a:t>
            </a:r>
            <a:br>
              <a:rPr lang="en-US" sz="1200" dirty="0"/>
            </a:br>
            <a:r>
              <a:rPr lang="en-US" sz="1200" dirty="0"/>
              <a:t>https://cdn.openai.com/papers/22265bac-3191-44e5-b057-7aaacd8e90cd/paperbench.pdf#:~:text=call%20PaperBench%20Code,be%20reduced%20by%20about%2085</a:t>
            </a:r>
          </a:p>
        </p:txBody>
      </p:sp>
    </p:spTree>
    <p:extLst>
      <p:ext uri="{BB962C8B-B14F-4D97-AF65-F5344CB8AC3E}">
        <p14:creationId xmlns:p14="http://schemas.microsoft.com/office/powerpoint/2010/main" val="14603888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35</TotalTime>
  <Words>1881</Words>
  <Application>Microsoft Office PowerPoint</Application>
  <PresentationFormat>Widescreen</PresentationFormat>
  <Paragraphs>30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 Boardroom</vt:lpstr>
      <vt:lpstr>Automating ML/DL Paper-to-Code: Proposal Overview</vt:lpstr>
      <vt:lpstr>Context Definition</vt:lpstr>
      <vt:lpstr>Motivation</vt:lpstr>
      <vt:lpstr>Reason</vt:lpstr>
      <vt:lpstr>Tools and Techniques Used</vt:lpstr>
      <vt:lpstr>Tools and Techniques Used</vt:lpstr>
      <vt:lpstr>Background</vt:lpstr>
      <vt:lpstr>Literature Review</vt:lpstr>
      <vt:lpstr>Literature Review</vt:lpstr>
      <vt:lpstr>Approach</vt:lpstr>
      <vt:lpstr>Approach</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Bhavesh Arora</dc:creator>
  <cp:lastModifiedBy>Bhavesh Arora</cp:lastModifiedBy>
  <cp:revision>5</cp:revision>
  <dcterms:created xsi:type="dcterms:W3CDTF">2025-06-30T10:49:15Z</dcterms:created>
  <dcterms:modified xsi:type="dcterms:W3CDTF">2025-06-30T11:25:13Z</dcterms:modified>
</cp:coreProperties>
</file>